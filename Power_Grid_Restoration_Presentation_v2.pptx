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console system that plans repairs after a cyclone using graph algorithms.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 frame the sample grid: 3 critical facilities dark, 7 damaged lines, total effort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Nodes are places, edges are power lines with repair effort. Only substations have power at the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on top, four algorithm modules in the middle, the shared graph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is nodes and E is edges. CO-3 heap and sorting, CO-4 Union-Find, CO-5 graph traversal and shortest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CO-3 heap and sorting, CO-4 Union-Find and the heap as a tree, CO-5 graph, BFS, DFS and Dijkstra.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 is gain divided by effort. A max-heap on gain over effort equals a min-heap on effort over gain, as in the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1, 2, 7, 8 repeatedly, then 4 to break the telecom line, then 6 and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was added beyond the baseline and the roadmap. Thank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0"/>
            <a:ext cx="1463040" cy="548640"/>
          </a:xfrm>
          <a:prstGeom prst="line">
            <a:avLst/>
          </a:prstGeom>
          <a:noFill/>
          <a:ln w="19050">
            <a:solidFill>
              <a:srgbClr val="2A3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914400"/>
            <a:ext cx="365760" cy="1463040"/>
          </a:xfrm>
          <a:prstGeom prst="line">
            <a:avLst/>
          </a:prstGeom>
          <a:noFill/>
          <a:ln w="19050">
            <a:solidFill>
              <a:srgbClr val="2A3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1463040"/>
            <a:ext cx="365760" cy="1463040"/>
          </a:xfrm>
          <a:prstGeom prst="line">
            <a:avLst/>
          </a:prstGeom>
          <a:noFill/>
          <a:ln w="19050">
            <a:solidFill>
              <a:srgbClr val="2A33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377440"/>
            <a:ext cx="1463040" cy="548640"/>
          </a:xfrm>
          <a:prstGeom prst="line">
            <a:avLst/>
          </a:prstGeom>
          <a:noFill/>
          <a:ln w="1905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400800" y="2377440"/>
            <a:ext cx="548640" cy="1280160"/>
          </a:xfrm>
          <a:prstGeom prst="line">
            <a:avLst/>
          </a:prstGeom>
          <a:noFill/>
          <a:ln w="19050">
            <a:solidFill>
              <a:srgbClr val="2A33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680960" y="2926080"/>
            <a:ext cx="731520" cy="1188720"/>
          </a:xfrm>
          <a:prstGeom prst="line">
            <a:avLst/>
          </a:prstGeom>
          <a:noFill/>
          <a:ln w="19050">
            <a:solidFill>
              <a:srgbClr val="2A33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3657600"/>
            <a:ext cx="1280160" cy="457200"/>
          </a:xfrm>
          <a:prstGeom prst="line">
            <a:avLst/>
          </a:prstGeom>
          <a:noFill/>
          <a:ln w="19050">
            <a:solidFill>
              <a:srgbClr val="2A33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55664" y="786384"/>
            <a:ext cx="256032" cy="256032"/>
          </a:xfrm>
          <a:prstGeom prst="ellipse">
            <a:avLst/>
          </a:prstGeom>
          <a:solidFill>
            <a:srgbClr val="F5B301"/>
          </a:solidFill>
          <a:ln w="25400">
            <a:solidFill>
              <a:srgbClr val="0B1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18704" y="1335024"/>
            <a:ext cx="256032" cy="256032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B1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21424" y="2249424"/>
            <a:ext cx="256032" cy="256032"/>
          </a:xfrm>
          <a:prstGeom prst="ellipse">
            <a:avLst/>
          </a:prstGeom>
          <a:solidFill>
            <a:srgbClr val="F87171"/>
          </a:solidFill>
          <a:ln w="25400">
            <a:solidFill>
              <a:srgbClr val="0B1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84464" y="2798064"/>
            <a:ext cx="256032" cy="256032"/>
          </a:xfrm>
          <a:prstGeom prst="ellipse">
            <a:avLst/>
          </a:prstGeom>
          <a:solidFill>
            <a:srgbClr val="F5B301"/>
          </a:solidFill>
          <a:ln w="25400">
            <a:solidFill>
              <a:srgbClr val="0B1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3529584"/>
            <a:ext cx="256032" cy="256032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B1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52944" y="3986784"/>
            <a:ext cx="256032" cy="256032"/>
          </a:xfrm>
          <a:prstGeom prst="ellipse">
            <a:avLst/>
          </a:prstGeom>
          <a:solidFill>
            <a:srgbClr val="F87171"/>
          </a:solidFill>
          <a:ln w="25400">
            <a:solidFill>
              <a:srgbClr val="0B10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MICRO-PROJECT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5087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Power Grid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1945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 System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063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line do we repair first? A graph-based decision-support system in C++.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Chetan M Suryavamshi  |  Hanok Paul  |  Mohammed Raiyan  |  Sai Darpan M  |  Samarth  |  Preetham 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47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are limited. Order matters.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cyclone, hospitals, water plants and telecom can lose power together. One repaired line can light up many places, so the next repair has to be chosen carefully.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219456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774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facilities in the dark on the sample grid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194560"/>
            <a:ext cx="2194560" cy="457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3774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lines, every one starting DAMAGED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219456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3774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repair effort in the suggested plan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recommend the next repair and update the plan the moment new damage arrives.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47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is a weighted graph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1737360"/>
            <a:ext cx="2194560" cy="0"/>
          </a:xfrm>
          <a:prstGeom prst="line">
            <a:avLst/>
          </a:prstGeom>
          <a:noFill/>
          <a:ln w="25400">
            <a:solidFill>
              <a:srgbClr val="F8717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947672" y="1618488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B102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47672" y="161848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737360"/>
            <a:ext cx="2011680" cy="0"/>
          </a:xfrm>
          <a:prstGeom prst="line">
            <a:avLst/>
          </a:prstGeom>
          <a:noFill/>
          <a:ln w="25400">
            <a:solidFill>
              <a:srgbClr val="F8717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050792" y="1618488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B102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50792" y="161848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1737360"/>
            <a:ext cx="0" cy="1234440"/>
          </a:xfrm>
          <a:prstGeom prst="line">
            <a:avLst/>
          </a:prstGeom>
          <a:noFill/>
          <a:ln w="25400">
            <a:solidFill>
              <a:srgbClr val="F8717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50392" y="2235708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B102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" y="223570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737360"/>
            <a:ext cx="0" cy="1234440"/>
          </a:xfrm>
          <a:prstGeom prst="line">
            <a:avLst/>
          </a:prstGeom>
          <a:noFill/>
          <a:ln w="25400">
            <a:solidFill>
              <a:srgbClr val="F8717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044952" y="2235708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B102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44952" y="223570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2971800"/>
            <a:ext cx="0" cy="1234440"/>
          </a:xfrm>
          <a:prstGeom prst="line">
            <a:avLst/>
          </a:prstGeom>
          <a:noFill/>
          <a:ln w="25400">
            <a:solidFill>
              <a:srgbClr val="F8717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50392" y="3470148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B102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" y="347014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0" cy="1234440"/>
          </a:xfrm>
          <a:prstGeom prst="line">
            <a:avLst/>
          </a:prstGeom>
          <a:noFill/>
          <a:ln w="25400">
            <a:solidFill>
              <a:srgbClr val="F8717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044952" y="3470148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B102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44952" y="347014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4206240"/>
            <a:ext cx="2194560" cy="0"/>
          </a:xfrm>
          <a:prstGeom prst="line">
            <a:avLst/>
          </a:prstGeom>
          <a:noFill/>
          <a:ln w="25400">
            <a:solidFill>
              <a:srgbClr val="F8717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947672" y="4087368"/>
            <a:ext cx="310896" cy="237744"/>
          </a:xfrm>
          <a:prstGeom prst="roundRect">
            <a:avLst>
              <a:gd name="adj" fmla="val 23077"/>
            </a:avLst>
          </a:prstGeom>
          <a:solidFill>
            <a:srgbClr val="0B1020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47672" y="408736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" y="1426464"/>
            <a:ext cx="621792" cy="621792"/>
          </a:xfrm>
          <a:prstGeom prst="ellipse">
            <a:avLst/>
          </a:prstGeom>
          <a:solidFill>
            <a:srgbClr val="F5B301"/>
          </a:solidFill>
          <a:ln w="38100">
            <a:solidFill>
              <a:srgbClr val="0B102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944" y="14264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889504" y="1426464"/>
            <a:ext cx="621792" cy="621792"/>
          </a:xfrm>
          <a:prstGeom prst="ellipse">
            <a:avLst/>
          </a:prstGeom>
          <a:solidFill>
            <a:srgbClr val="F5B301"/>
          </a:solidFill>
          <a:ln w="38100">
            <a:solidFill>
              <a:srgbClr val="0B102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89504" y="14264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01184" y="1426464"/>
            <a:ext cx="621792" cy="621792"/>
          </a:xfrm>
          <a:prstGeom prst="ellipse">
            <a:avLst/>
          </a:prstGeom>
          <a:solidFill>
            <a:srgbClr val="34D399"/>
          </a:solidFill>
          <a:ln w="38100">
            <a:solidFill>
              <a:srgbClr val="0B102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01184" y="14264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94944" y="2660904"/>
            <a:ext cx="621792" cy="621792"/>
          </a:xfrm>
          <a:prstGeom prst="ellipse">
            <a:avLst/>
          </a:prstGeom>
          <a:solidFill>
            <a:srgbClr val="F87171"/>
          </a:solidFill>
          <a:ln w="38100">
            <a:solidFill>
              <a:srgbClr val="0B102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4944" y="26609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889504" y="2660904"/>
            <a:ext cx="621792" cy="621792"/>
          </a:xfrm>
          <a:prstGeom prst="ellipse">
            <a:avLst/>
          </a:prstGeom>
          <a:solidFill>
            <a:srgbClr val="22D3EE"/>
          </a:solidFill>
          <a:ln w="38100">
            <a:solidFill>
              <a:srgbClr val="0B102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889504" y="26609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94944" y="3895344"/>
            <a:ext cx="621792" cy="621792"/>
          </a:xfrm>
          <a:prstGeom prst="ellipse">
            <a:avLst/>
          </a:prstGeom>
          <a:solidFill>
            <a:srgbClr val="6B7AA8"/>
          </a:solidFill>
          <a:ln w="38100">
            <a:solidFill>
              <a:srgbClr val="0B102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4944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889504" y="3895344"/>
            <a:ext cx="621792" cy="621792"/>
          </a:xfrm>
          <a:prstGeom prst="ellipse">
            <a:avLst/>
          </a:prstGeom>
          <a:solidFill>
            <a:srgbClr val="6B7AA8"/>
          </a:solidFill>
          <a:ln w="38100">
            <a:solidFill>
              <a:srgbClr val="0B102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89504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943600" y="137160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72200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VALUES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72200" y="1929384"/>
            <a:ext cx="182880" cy="1828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92240" y="1874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City Hospital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955280" y="1874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72200" y="2386584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2331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Water Plant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955280" y="23317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72200" y="2843784"/>
            <a:ext cx="182880" cy="1828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92240" y="2788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 Telecom Tower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955280" y="27889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72200" y="3300984"/>
            <a:ext cx="182880" cy="182880"/>
          </a:xfrm>
          <a:prstGeom prst="ellipse">
            <a:avLst/>
          </a:prstGeom>
          <a:solidFill>
            <a:srgbClr val="6B7AA8"/>
          </a:solidFill>
          <a:ln w="12700">
            <a:solidFill>
              <a:srgbClr val="6B7AA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92240" y="3246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Homes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955280" y="32461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172200" y="3758184"/>
            <a:ext cx="182880" cy="182880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92240" y="3703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 Substations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7955280" y="37033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17220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red = DAMAGED line. Numbers on lines = repair effort.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47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modules, one clean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78638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6245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main.cpp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37360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menu, options 1 to 12. Calls every module below.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371600" y="1965960"/>
            <a:ext cx="0" cy="274320"/>
          </a:xfrm>
          <a:prstGeom prst="line">
            <a:avLst/>
          </a:prstGeom>
          <a:noFill/>
          <a:ln w="25400">
            <a:solidFill>
              <a:srgbClr val="2A33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16002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36829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743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finds who has power. DFS lists cut-off groups.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371600" y="3794760"/>
            <a:ext cx="0" cy="274320"/>
          </a:xfrm>
          <a:prstGeom prst="line">
            <a:avLst/>
          </a:prstGeom>
          <a:noFill/>
          <a:ln w="25400">
            <a:solidFill>
              <a:srgbClr val="2A33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965960"/>
            <a:ext cx="0" cy="274320"/>
          </a:xfrm>
          <a:prstGeom prst="line">
            <a:avLst/>
          </a:prstGeom>
          <a:noFill/>
          <a:ln w="25400">
            <a:solidFill>
              <a:srgbClr val="2A33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224028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2240280"/>
            <a:ext cx="1600200" cy="457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97480" y="236829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2743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repair path to any node.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0" y="3794760"/>
            <a:ext cx="0" cy="274320"/>
          </a:xfrm>
          <a:prstGeom prst="line">
            <a:avLst/>
          </a:prstGeom>
          <a:noFill/>
          <a:ln w="25400">
            <a:solidFill>
              <a:srgbClr val="2A33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965960"/>
            <a:ext cx="0" cy="274320"/>
          </a:xfrm>
          <a:prstGeom prst="line">
            <a:avLst/>
          </a:prstGeom>
          <a:noFill/>
          <a:ln w="25400">
            <a:solidFill>
              <a:srgbClr val="2A33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24028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240280"/>
            <a:ext cx="160020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236829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2743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network to join the grid, with Union-Find for cycles.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577840" y="3794760"/>
            <a:ext cx="0" cy="274320"/>
          </a:xfrm>
          <a:prstGeom prst="line">
            <a:avLst/>
          </a:prstGeom>
          <a:noFill/>
          <a:ln w="25400">
            <a:solidFill>
              <a:srgbClr val="2A33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0" y="1965960"/>
            <a:ext cx="0" cy="274320"/>
          </a:xfrm>
          <a:prstGeom prst="line">
            <a:avLst/>
          </a:prstGeom>
          <a:noFill/>
          <a:ln w="25400">
            <a:solidFill>
              <a:srgbClr val="2A33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224028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2240280"/>
            <a:ext cx="16002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03720" y="236829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27432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 ranks repairs by gain per effort.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80960" y="3794760"/>
            <a:ext cx="0" cy="274320"/>
          </a:xfrm>
          <a:prstGeom prst="line">
            <a:avLst/>
          </a:prstGeom>
          <a:noFill/>
          <a:ln w="25400">
            <a:solidFill>
              <a:srgbClr val="2A33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06908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069080"/>
            <a:ext cx="7863840" cy="457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419709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 +  UnionFind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4572000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of edge ids, DAMAGED or REPAIRED status, nodes with types. Disjoint sets with path compression and union by rank.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47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ideas, mapped to the course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591056" cy="3429000"/>
          </a:xfrm>
          <a:prstGeom prst="roundRect">
            <a:avLst>
              <a:gd name="adj" fmla="val 6897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1225296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power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search from every substation over repaired lines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794760"/>
            <a:ext cx="1316736" cy="292608"/>
          </a:xfrm>
          <a:prstGeom prst="roundRect">
            <a:avLst>
              <a:gd name="adj" fmla="val 25000"/>
            </a:avLst>
          </a:prstGeom>
          <a:solidFill>
            <a:srgbClr val="1E274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794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O(V+E)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48256" y="1280160"/>
            <a:ext cx="1591056" cy="3429000"/>
          </a:xfrm>
          <a:prstGeom prst="roundRect">
            <a:avLst>
              <a:gd name="adj" fmla="val 6897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31136" y="1280160"/>
            <a:ext cx="1225296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85416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185416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Cut-off groups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185416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walk lists unpowered places joined together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85416" y="3794760"/>
            <a:ext cx="1316736" cy="292608"/>
          </a:xfrm>
          <a:prstGeom prst="roundRect">
            <a:avLst>
              <a:gd name="adj" fmla="val 25000"/>
            </a:avLst>
          </a:prstGeom>
          <a:solidFill>
            <a:srgbClr val="1E274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85416" y="3794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O(V+E)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185416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30752" y="1280160"/>
            <a:ext cx="1591056" cy="3429000"/>
          </a:xfrm>
          <a:prstGeom prst="roundRect">
            <a:avLst>
              <a:gd name="adj" fmla="val 6897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13632" y="1280160"/>
            <a:ext cx="1225296" cy="457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67912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867912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path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867912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repair effort to power any place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67912" y="3794760"/>
            <a:ext cx="1316736" cy="292608"/>
          </a:xfrm>
          <a:prstGeom prst="roundRect">
            <a:avLst>
              <a:gd name="adj" fmla="val 25000"/>
            </a:avLst>
          </a:prstGeom>
          <a:solidFill>
            <a:srgbClr val="1E2747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67912" y="3794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O(V²+E)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867912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13248" y="1280160"/>
            <a:ext cx="1591056" cy="3429000"/>
          </a:xfrm>
          <a:prstGeom prst="roundRect">
            <a:avLst>
              <a:gd name="adj" fmla="val 6897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96128" y="1280160"/>
            <a:ext cx="1225296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50408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5550408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network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550408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lines and skips cycles using Union-Find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550408" y="3794760"/>
            <a:ext cx="1316736" cy="292608"/>
          </a:xfrm>
          <a:prstGeom prst="roundRect">
            <a:avLst>
              <a:gd name="adj" fmla="val 25000"/>
            </a:avLst>
          </a:prstGeom>
          <a:solidFill>
            <a:srgbClr val="1E274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50408" y="3794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log E)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550408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CO-4, CO-5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95744" y="1280160"/>
            <a:ext cx="1591056" cy="3429000"/>
          </a:xfrm>
          <a:prstGeom prst="roundRect">
            <a:avLst>
              <a:gd name="adj" fmla="val 6897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78624" y="1280160"/>
            <a:ext cx="1225296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32904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7232904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order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232904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gain per effort always comes off the top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232904" y="3794760"/>
            <a:ext cx="1316736" cy="292608"/>
          </a:xfrm>
          <a:prstGeom prst="roundRect">
            <a:avLst>
              <a:gd name="adj" fmla="val 25000"/>
            </a:avLst>
          </a:prstGeom>
          <a:solidFill>
            <a:srgbClr val="1E274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232904" y="3794760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E) per op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232904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47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outcomes, all addressed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ADDRESSES 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78638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CO-3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554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suitability of searching and sorting algorithms for efficient data processing.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1645920"/>
            <a:ext cx="0" cy="64008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sorts damaged lines by repair effort in O(E log E). The scheduler's max-heap picks the best repair by gain per effort in O(log E) instead of rescanning every candidate.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06040"/>
            <a:ext cx="7863840" cy="457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CO-4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2697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suitability of the tree data structures for efficient data management.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2788920"/>
            <a:ext cx="0" cy="64008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2697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Union-Find is a forest of trees with path compression and union by rank, giving near constant time cycle checks in Kruskal's. The binary heap is a complete tree stored in an array.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49040"/>
            <a:ext cx="78638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840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CO-5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3840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suitability of graph data structures for efficient data traversal.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0600" y="3931920"/>
            <a:ext cx="0" cy="640080"/>
          </a:xfrm>
          <a:prstGeom prst="line">
            <a:avLst/>
          </a:prstGeom>
          <a:noFill/>
          <a:ln w="12700">
            <a:solidFill>
              <a:srgbClr val="2A335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3840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is a weighted graph in an adjacency list. BFS and DFS traverse it in O(V+E) and Dijkstra finds the cheapest repair path, which suits a sparse network of lines.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47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facilities first, homes last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" cy="38404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25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 to Hospital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5819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10, effort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597165" cy="292608"/>
          </a:xfrm>
          <a:prstGeom prst="roundRect">
            <a:avLst>
              <a:gd name="adj" fmla="val 1875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89005" y="14173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384048" cy="38404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984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B to Telecom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6, effort 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2075688"/>
            <a:ext cx="2339788" cy="292608"/>
          </a:xfrm>
          <a:prstGeom prst="roundRect">
            <a:avLst>
              <a:gd name="adj" fmla="val 1875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31628" y="20756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6426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B to Water Plant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8986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8, effort 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734056"/>
            <a:ext cx="1559859" cy="292608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51699" y="27340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46704"/>
            <a:ext cx="384048" cy="384048"/>
          </a:xfrm>
          <a:prstGeom prst="ellipse">
            <a:avLst/>
          </a:prstGeom>
          <a:solidFill>
            <a:srgbClr val="6B7AA8"/>
          </a:solidFill>
          <a:ln w="12700">
            <a:solidFill>
              <a:srgbClr val="6B7A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3009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to Res 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35570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1, effort 6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3392424"/>
            <a:ext cx="132588" cy="292608"/>
          </a:xfrm>
          <a:prstGeom prst="roundRect">
            <a:avLst>
              <a:gd name="adj" fmla="val 41379"/>
            </a:avLst>
          </a:prstGeom>
          <a:solidFill>
            <a:srgbClr val="6B7AA8"/>
          </a:solidFill>
          <a:ln w="12700">
            <a:solidFill>
              <a:srgbClr val="6B7A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24428" y="33924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384048" cy="384048"/>
          </a:xfrm>
          <a:prstGeom prst="ellipse">
            <a:avLst/>
          </a:prstGeom>
          <a:solidFill>
            <a:srgbClr val="6B7AA8"/>
          </a:solidFill>
          <a:ln w="12700">
            <a:solidFill>
              <a:srgbClr val="6B7A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39593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Plant to Res 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42153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1, effort 7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0" y="4050792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6B7AA8"/>
          </a:solidFill>
          <a:ln w="12700">
            <a:solidFill>
              <a:srgbClr val="6B7A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01568" y="40507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200400" y="4617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= priority (gain divided by effort)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12280" y="1325880"/>
            <a:ext cx="1874520" cy="3246120"/>
          </a:xfrm>
          <a:prstGeom prst="roundRect">
            <a:avLst>
              <a:gd name="adj" fmla="val 5854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95160" y="1325880"/>
            <a:ext cx="1508760" cy="457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49440" y="1554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54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2423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repair effort for the full plan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949440" y="31546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after every repair or new failure. Greedy, so a strong plan, not a proven best.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47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AND TESTING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run, then trust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754880" cy="3383280"/>
          </a:xfrm>
          <a:prstGeom prst="roundRect">
            <a:avLst>
              <a:gd name="adj" fmla="val 3243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44752"/>
            <a:ext cx="128016" cy="12801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444752"/>
            <a:ext cx="128016" cy="128016"/>
          </a:xfrm>
          <a:prstGeom prst="ellipse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1444752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7   Suggested repair schedule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76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Substation A - City Hospital  gain=10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5694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Substation B - Telecom Tower  gain=6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9626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8   Carry out next repair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55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Repaired Substation A - City Hospital.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749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B3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Newly powered: City Hospital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142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facilities without power: 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128016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1280160"/>
            <a:ext cx="283464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1500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/ 67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checks pass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2441448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2441448"/>
            <a:ext cx="28346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15000" y="262432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62432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test cases documented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3602736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0" y="3602736"/>
            <a:ext cx="2834640" cy="457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15000" y="378561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378561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options, every one tested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4008" cy="5669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347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added and what is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2331720"/>
          </a:xfrm>
          <a:prstGeom prst="roundRect">
            <a:avLst>
              <a:gd name="adj" fmla="val 4706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36576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binary max-heap scheduler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to list cut-off groups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nodes and lines while running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powered places after each repair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2331720"/>
          </a:xfrm>
          <a:prstGeom prst="roundRect">
            <a:avLst>
              <a:gd name="adj" fmla="val 4706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280160"/>
            <a:ext cx="3657600" cy="45720"/>
          </a:xfrm>
          <a:prstGeom prst="rect">
            <a:avLst/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444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7830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grids from a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Crews and repair time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Prim's beside Kruskal's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nodes and lines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1298448" cy="731520"/>
          </a:xfrm>
          <a:prstGeom prst="roundRect">
            <a:avLst>
              <a:gd name="adj" fmla="val 15000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169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Chetan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622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Coordination, testing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47088" y="4114800"/>
            <a:ext cx="1298448" cy="731520"/>
          </a:xfrm>
          <a:prstGeom prst="roundRect">
            <a:avLst>
              <a:gd name="adj" fmla="val 15000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38528" y="4169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Hanok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938528" y="44622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integration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36976" y="4114800"/>
            <a:ext cx="1298448" cy="731520"/>
          </a:xfrm>
          <a:prstGeom prst="roundRect">
            <a:avLst>
              <a:gd name="adj" fmla="val 15000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28416" y="4169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Raiyan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328416" y="44622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26864" y="4114800"/>
            <a:ext cx="1298448" cy="731520"/>
          </a:xfrm>
          <a:prstGeom prst="roundRect">
            <a:avLst>
              <a:gd name="adj" fmla="val 15000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18304" y="4169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Darpan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718304" y="44622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16752" y="4114800"/>
            <a:ext cx="1298448" cy="731520"/>
          </a:xfrm>
          <a:prstGeom prst="roundRect">
            <a:avLst>
              <a:gd name="adj" fmla="val 15000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08192" y="4169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108192" y="44622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Coupling, debugging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06640" y="4114800"/>
            <a:ext cx="1298448" cy="731520"/>
          </a:xfrm>
          <a:prstGeom prst="roundRect">
            <a:avLst>
              <a:gd name="adj" fmla="val 15000"/>
            </a:avLst>
          </a:prstGeom>
          <a:solidFill>
            <a:srgbClr val="151B33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0" y="41696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Preetham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44622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Grid Restoration</dc:title>
  <dc:subject>PptxGenJS Presentation</dc:subject>
  <dc:creator>PptxGenJS</dc:creator>
  <cp:lastModifiedBy>PptxGenJS</cp:lastModifiedBy>
  <cp:revision>1</cp:revision>
  <dcterms:created xsi:type="dcterms:W3CDTF">2026-10-12T01:36:52Z</dcterms:created>
  <dcterms:modified xsi:type="dcterms:W3CDTF">2026-10-12T01:36:52Z</dcterms:modified>
</cp:coreProperties>
</file>